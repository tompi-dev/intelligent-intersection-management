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a501e6b81f48fa" /><Relationship Type="http://schemas.openxmlformats.org/officeDocument/2006/relationships/extended-properties" Target="/docProps/app.xml" Id="Rc41e0e96163248b3" /><Relationship Type="http://schemas.openxmlformats.org/officeDocument/2006/relationships/officeDocument" Target="/ppt/presentation.xml" Id="R70c680728b7a43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bb854603d145fb"/>
  </p:sldMasterIdLst>
  <p:notesMasterIdLst>
    <p:notesMasterId xmlns:r="http://schemas.openxmlformats.org/officeDocument/2006/relationships" r:id="R34a5607d6ff6400f"/>
  </p:notesMasterIdLst>
  <p:sldIdLst>
    <p:sldId xmlns:r="http://schemas.openxmlformats.org/officeDocument/2006/relationships" id="256" r:id="Re077744cf38c4af6"/>
    <p:sldId xmlns:r="http://schemas.openxmlformats.org/officeDocument/2006/relationships" id="257" r:id="R41c8c9aeb2ee4875"/>
    <p:sldId xmlns:r="http://schemas.openxmlformats.org/officeDocument/2006/relationships" id="258" r:id="R15e6504d4cef4dc5"/>
    <p:sldId xmlns:r="http://schemas.openxmlformats.org/officeDocument/2006/relationships" id="259" r:id="Rb4f0a7ac91a9493e"/>
    <p:sldId xmlns:r="http://schemas.openxmlformats.org/officeDocument/2006/relationships" id="260" r:id="Rf28ad299791d4b3e"/>
    <p:sldId xmlns:r="http://schemas.openxmlformats.org/officeDocument/2006/relationships" id="261" r:id="Rf813b40a18b04cdc"/>
    <p:sldId xmlns:r="http://schemas.openxmlformats.org/officeDocument/2006/relationships" id="262" r:id="R77e3faac3bb64584"/>
    <p:sldId xmlns:r="http://schemas.openxmlformats.org/officeDocument/2006/relationships" id="263" r:id="R0d07ecda636c4058"/>
    <p:sldId xmlns:r="http://schemas.openxmlformats.org/officeDocument/2006/relationships" id="264" r:id="R51d4f63e5bd4413a"/>
    <p:sldId xmlns:r="http://schemas.openxmlformats.org/officeDocument/2006/relationships" id="265" r:id="Rf9411141b94c470e"/>
    <p:sldId xmlns:r="http://schemas.openxmlformats.org/officeDocument/2006/relationships" id="266" r:id="Recb7fc20ed23436a"/>
    <p:sldId xmlns:r="http://schemas.openxmlformats.org/officeDocument/2006/relationships" id="267" r:id="R635373c918744e88"/>
    <p:sldId xmlns:r="http://schemas.openxmlformats.org/officeDocument/2006/relationships" id="268" r:id="Rc2da5fcd0b0d4f6d"/>
    <p:sldId xmlns:r="http://schemas.openxmlformats.org/officeDocument/2006/relationships" id="269" r:id="R7789fc734e7840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d6c8d4bdb443be" /><Relationship Type="http://schemas.openxmlformats.org/officeDocument/2006/relationships/slideMaster" Target="/ppt/slideMasters/slideMaster1.xml" Id="Radbb854603d145fb" /><Relationship Type="http://schemas.openxmlformats.org/officeDocument/2006/relationships/notesMaster" Target="/ppt/notesMasters/notesMaster1.xml" Id="R34a5607d6ff6400f" /><Relationship Type="http://schemas.openxmlformats.org/officeDocument/2006/relationships/presProps" Target="/ppt/presProps.xml" Id="R8da5712bb1474f28" /><Relationship Type="http://schemas.openxmlformats.org/officeDocument/2006/relationships/tableStyles" Target="/ppt/tableStyles.xml" Id="R9e9e299ea20b4950" /><Relationship Type="http://schemas.openxmlformats.org/officeDocument/2006/relationships/slide" Target="/ppt/slides/slide1.xml" Id="Re077744cf38c4af6" /><Relationship Type="http://schemas.openxmlformats.org/officeDocument/2006/relationships/slide" Target="/ppt/slides/slide2.xml" Id="R41c8c9aeb2ee4875" /><Relationship Type="http://schemas.openxmlformats.org/officeDocument/2006/relationships/slide" Target="/ppt/slides/slide3.xml" Id="R15e6504d4cef4dc5" /><Relationship Type="http://schemas.openxmlformats.org/officeDocument/2006/relationships/slide" Target="/ppt/slides/slide4.xml" Id="Rb4f0a7ac91a9493e" /><Relationship Type="http://schemas.openxmlformats.org/officeDocument/2006/relationships/slide" Target="/ppt/slides/slide5.xml" Id="Rf28ad299791d4b3e" /><Relationship Type="http://schemas.openxmlformats.org/officeDocument/2006/relationships/slide" Target="/ppt/slides/slide6.xml" Id="Rf813b40a18b04cdc" /><Relationship Type="http://schemas.openxmlformats.org/officeDocument/2006/relationships/slide" Target="/ppt/slides/slide7.xml" Id="R77e3faac3bb64584" /><Relationship Type="http://schemas.openxmlformats.org/officeDocument/2006/relationships/slide" Target="/ppt/slides/slide8.xml" Id="R0d07ecda636c4058" /><Relationship Type="http://schemas.openxmlformats.org/officeDocument/2006/relationships/slide" Target="/ppt/slides/slide9.xml" Id="R51d4f63e5bd4413a" /><Relationship Type="http://schemas.openxmlformats.org/officeDocument/2006/relationships/slide" Target="/ppt/slides/slide10.xml" Id="Rf9411141b94c470e" /><Relationship Type="http://schemas.openxmlformats.org/officeDocument/2006/relationships/slide" Target="/ppt/slides/slide11.xml" Id="Recb7fc20ed23436a" /><Relationship Type="http://schemas.openxmlformats.org/officeDocument/2006/relationships/slide" Target="/ppt/slides/slide12.xml" Id="R635373c918744e88" /><Relationship Type="http://schemas.openxmlformats.org/officeDocument/2006/relationships/slide" Target="/ppt/slides/slide13.xml" Id="Rc2da5fcd0b0d4f6d" /><Relationship Type="http://schemas.openxmlformats.org/officeDocument/2006/relationships/slide" Target="/ppt/slides/slide14.xml" Id="R7789fc734e7840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01744757ba47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4f997d6fd64ac3" /><Relationship Type="http://schemas.openxmlformats.org/officeDocument/2006/relationships/notesMaster" Target="/ppt/notesMasters/notesMaster1.xml" Id="R267074d096fc4f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a3fa3bf4af4ce8" /><Relationship Type="http://schemas.openxmlformats.org/officeDocument/2006/relationships/notesMaster" Target="/ppt/notesMasters/notesMaster1.xml" Id="R4acb7de6ae7043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1bae84f5b94bd1" /><Relationship Type="http://schemas.openxmlformats.org/officeDocument/2006/relationships/notesMaster" Target="/ppt/notesMasters/notesMaster1.xml" Id="R0d49ebbe505c46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ff694f66394762" /><Relationship Type="http://schemas.openxmlformats.org/officeDocument/2006/relationships/notesMaster" Target="/ppt/notesMasters/notesMaster1.xml" Id="R9264f58e84ed45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1da632cecb402c" /><Relationship Type="http://schemas.openxmlformats.org/officeDocument/2006/relationships/notesMaster" Target="/ppt/notesMasters/notesMaster1.xml" Id="R5f8327150ccc4b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7bdcc381be422d" /><Relationship Type="http://schemas.openxmlformats.org/officeDocument/2006/relationships/notesMaster" Target="/ppt/notesMasters/notesMaster1.xml" Id="R3237748a3b684f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e9ecd5339d4c00" /><Relationship Type="http://schemas.openxmlformats.org/officeDocument/2006/relationships/notesMaster" Target="/ppt/notesMasters/notesMaster1.xml" Id="R3ddbe56dc0d042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45086290d44119" /><Relationship Type="http://schemas.openxmlformats.org/officeDocument/2006/relationships/notesMaster" Target="/ppt/notesMasters/notesMaster1.xml" Id="R03759e127ca84a0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6bd096596664056" /><Relationship Type="http://schemas.openxmlformats.org/officeDocument/2006/relationships/notesMaster" Target="/ppt/notesMasters/notesMaster1.xml" Id="R0b5260e92f8f4ed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143483e15d04902" /><Relationship Type="http://schemas.openxmlformats.org/officeDocument/2006/relationships/notesMaster" Target="/ppt/notesMasters/notesMaster1.xml" Id="R02596fdd81494ce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2ffd356791343ff" /><Relationship Type="http://schemas.openxmlformats.org/officeDocument/2006/relationships/notesMaster" Target="/ppt/notesMasters/notesMaster1.xml" Id="R3a852e61711e489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bef1b21114241b9" /><Relationship Type="http://schemas.openxmlformats.org/officeDocument/2006/relationships/notesMaster" Target="/ppt/notesMasters/notesMaster1.xml" Id="R670bfc1ba2d54fb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eb93fd7b59b4d09" /><Relationship Type="http://schemas.openxmlformats.org/officeDocument/2006/relationships/notesMaster" Target="/ppt/notesMasters/notesMaster1.xml" Id="R13252f95cac94d5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2d33ce4f2e64b87" /><Relationship Type="http://schemas.openxmlformats.org/officeDocument/2006/relationships/notesMaster" Target="/ppt/notesMasters/notesMaster1.xml" Id="Rb231e7b7172147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 project title supplied by the team. Accounts: https://github.com/akentay, https://github.com/Tompi-dev and https://github.com/Aiisana. Full names and supervisor details require completion.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research question. Related camera-sensing study: https://arxiv.org/abs/2412.03925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 is an engineering proposal for team and supervisor confirmation. Source: docs/01-proposal.md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Interview procedure: docs/02-relevance.md. No stakeholder interview or client agreement is represented as completed.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Scientific sources: https://arxiv.org/abs/2110.06864 ; https://arxiv.org/abs/2304.08069 ; https://arxiv.org/abs/2305.16145 ; https://arxiv.org/abs/2412.03925 ; https://github.com/wingsweihua/presslight . Full 12-work appraisal in docs/03-literature-review.md.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sources: https://eclipse.dev/sumo/docs/TraCI/index.html ; https://cityflow-project.github.io/ ; https://www.ptvgroup.com/en/products/ptv-vissim ; https://www.aimsun.com/aimsun-next-transport-modelling-software/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decisions: docs/05-technology-decisions.md. Sources: https://arxiv.org/abs/2110.06864 ; https://arxiv.org/abs/2304.08069 ; https://fastapi.tiangolo.com/ ; https://www.sqlite.org/whentouse.html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Requirements and targets: docs/06-requirements.md. Numeric targets are proposed, not achieved results or public-road standards.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architecture: docs/07-architecture.md and diagrams/. Implemented scope is limited to the JSON queue controller CLI. Camera, simulator, API and run-store integrations remain planned.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verification command: python3 -m unittest discover -s tests -v. Prototype: src/controller.py and prototype/. Inputs are illustrative. Test evidence recorded in docs/verification-status.md.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protocol: docs/09-verification-plan.md. Warm-up 600 s, measurement 3600 s and drain cap 1800 s. No simulation result is claimed. Sensing motivation: https://arxiv.org/abs/2412.03925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Role allocations await team confirmation. Full names and supervisor remain to be added. Third account: https://github.com/Aiisana. W-series keys are local planning keys, not issued YouTrack identifiers. See docs/10-project-plan.md.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Risk register: docs/11-risks.md. Proposed mitigations require actual implementation and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Submission process: docs/12-supervision-and-submission.md and OPEN_ITEMS.md. No repository remote, YouTrack project, historical contribution sequence or supervisor approval has been fabricated.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a7e35ac689429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36c7e297a646d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906a050e67442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28dc38f747467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b8ac3ba828443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d9a12b6c2e4c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239F7C-877E-4F41-9E5D-6E0B829138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B70140A-E934-4EB7-8D75-2BA31D07491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1AEB5A1-AAD7-471B-B7B5-AED7744231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C75DCE5-4581-4A96-9D1D-5EE39AA46C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4F774C5-BDE4-428D-B425-D77EC71C9D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BA652DA-E2CD-4C29-B4CB-309687E807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81D5E33-9AEE-4571-85AE-B41B60573B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45BAF0F-D972-4F65-8FC8-0E3EB7D00B7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D94CF9-1119-472D-A15D-6CA28D2C10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EB9BC29-9C4A-47F0-A99E-0F74C0965C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28713435dd48ba" /><Relationship Type="http://schemas.openxmlformats.org/officeDocument/2006/relationships/slideLayout" Target="/ppt/slideLayouts/slideLayout1.xml" Id="R58f6329581e542fb" /><Relationship Type="http://schemas.openxmlformats.org/officeDocument/2006/relationships/slideLayout" Target="/ppt/slideLayouts/slideLayout2.xml" Id="R57089cb98179493a" /><Relationship Type="http://schemas.openxmlformats.org/officeDocument/2006/relationships/slideLayout" Target="/ppt/slideLayouts/slideLayout3.xml" Id="R74f550961a0049f6" /><Relationship Type="http://schemas.openxmlformats.org/officeDocument/2006/relationships/slideLayout" Target="/ppt/slideLayouts/slideLayout4.xml" Id="R194caaad524b4d01" /><Relationship Type="http://schemas.openxmlformats.org/officeDocument/2006/relationships/slideLayout" Target="/ppt/slideLayouts/slideLayout5.xml" Id="R9ae57bb152834789" /><Relationship Type="http://schemas.openxmlformats.org/officeDocument/2006/relationships/slideLayout" Target="/ppt/slideLayouts/slideLayout6.xml" Id="R365bd6dd5c4a49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f6329581e542fb"/>
    <p:sldLayoutId xmlns:r="http://schemas.openxmlformats.org/officeDocument/2006/relationships" id="2147483650" r:id="R57089cb98179493a"/>
    <p:sldLayoutId xmlns:r="http://schemas.openxmlformats.org/officeDocument/2006/relationships" id="2147483651" r:id="R74f550961a0049f6"/>
    <p:sldLayoutId xmlns:r="http://schemas.openxmlformats.org/officeDocument/2006/relationships" id="2147483652" r:id="R194caaad524b4d01"/>
    <p:sldLayoutId xmlns:r="http://schemas.openxmlformats.org/officeDocument/2006/relationships" id="2147483653" r:id="R9ae57bb152834789"/>
    <p:sldLayoutId xmlns:r="http://schemas.openxmlformats.org/officeDocument/2006/relationships" id="2147483654" r:id="R365bd6dd5c4a49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41b44c68e54372" /><Relationship Type="http://schemas.openxmlformats.org/officeDocument/2006/relationships/notesSlide" Target="/ppt/notesSlides/notesSlide1.xml" Id="Rdfb9b4a06aa742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de1313448b4f07" /><Relationship Type="http://schemas.openxmlformats.org/officeDocument/2006/relationships/notesSlide" Target="/ppt/notesSlides/notesSlide2.xml" Id="R2995ad134f6647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828b34c0d04795" /><Relationship Type="http://schemas.openxmlformats.org/officeDocument/2006/relationships/notesSlide" Target="/ppt/notesSlides/notesSlide3.xml" Id="R3f5e504c8a674f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51b691f15e4578" /><Relationship Type="http://schemas.openxmlformats.org/officeDocument/2006/relationships/notesSlide" Target="/ppt/notesSlides/notesSlide4.xml" Id="R53ef631a8a3d4e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fb1fef23274bac" /><Relationship Type="http://schemas.openxmlformats.org/officeDocument/2006/relationships/notesSlide" Target="/ppt/notesSlides/notesSlide5.xml" Id="R3dd3c4c417bb47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7ce3b89fa540da" /><Relationship Type="http://schemas.openxmlformats.org/officeDocument/2006/relationships/notesSlide" Target="/ppt/notesSlides/notesSlide6.xml" Id="Rc7f15425d4c24f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edd941a8654fb3" /><Relationship Type="http://schemas.openxmlformats.org/officeDocument/2006/relationships/notesSlide" Target="/ppt/notesSlides/notesSlide7.xml" Id="R4305b05dc3274e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113abae51644f4" /><Relationship Type="http://schemas.openxmlformats.org/officeDocument/2006/relationships/notesSlide" Target="/ppt/notesSlides/notesSlide8.xml" Id="R011e101fb2524c0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924550961e47ef" /><Relationship Type="http://schemas.openxmlformats.org/officeDocument/2006/relationships/notesSlide" Target="/ppt/notesSlides/notesSlide9.xml" Id="R38b7353cf6e448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7e4121fdc1486d" /><Relationship Type="http://schemas.openxmlformats.org/officeDocument/2006/relationships/notesSlide" Target="/ppt/notesSlides/notesSlide10.xml" Id="R814107d575d44ec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43e545bb8e42a9" /><Relationship Type="http://schemas.openxmlformats.org/officeDocument/2006/relationships/notesSlide" Target="/ppt/notesSlides/notesSlide11.xml" Id="R54ca8a876cd24ec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b8a38c84d14dcd" /><Relationship Type="http://schemas.openxmlformats.org/officeDocument/2006/relationships/notesSlide" Target="/ppt/notesSlides/notesSlide12.xml" Id="R342cb103814e487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c418b8ecd54950" /><Relationship Type="http://schemas.openxmlformats.org/officeDocument/2006/relationships/notesSlide" Target="/ppt/notesSlides/notesSlide13.xml" Id="R2f0de6d9bf3340f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0a521c800c4222" /><Relationship Type="http://schemas.openxmlformats.org/officeDocument/2006/relationships/notesSlide" Target="/ppt/notesSlides/notesSlide14.xml" Id="R080bfa575173409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9B29C1-36D6-44B4-A43F-ED905A00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435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Intelligent intersection</a:t>
            </a:r>
          </a:p>
          <a:p xmlns:a="http://schemas.openxmlformats.org/drawingml/2006/main">
            <a:pPr>
              <a:defRPr sz="435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traffic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B1427F-26B4-4512-96D6-19C083C4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250" b="0">
                <a:solidFill>
                  <a:srgbClr val="315E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15E6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15E6A"/>
                </a:solidFill>
                <a:latin typeface="Arial"/>
                <a:ea typeface="Arial"/>
                <a:cs typeface="Arial"/>
              </a:rPr>
              <a:t>Computer vision and constrained signal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C631D3-D519-43A8-A29A-BC15291E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57625"/>
            <a:ext cx="10382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72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Development of an Intelligent System for Effective Intersection Traffic Management Using Computer Vision Technologies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5DF276-8CEC-4566-9178-2070D3D9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626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575" b="0">
                <a:solidFill>
                  <a:srgbClr val="5B69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B697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B6974"/>
                </a:solidFill>
                <a:latin typeface="Arial"/>
                <a:ea typeface="Arial"/>
                <a:cs typeface="Arial"/>
              </a:rPr>
              <a:t>Three students    First pre defense    24 October 2026</a:t>
            </a:r>
          </a:p>
        </p:txBody>
      </p:sp>
    </p:spTree>
    <p:extLst>
      <p:ext uri="{BB962C8B-B14F-4D97-AF65-F5344CB8AC3E}">
        <p14:creationId xmlns:p14="http://schemas.microsoft.com/office/powerpoint/2010/main" val="16412293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2AF103-25DB-4363-8258-61176F98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330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Research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B04A0-2DD6-4DAB-A059-65A9A432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6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012B7-B84C-4D72-AC6E-04B044D9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647825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Can camera-derived demand reduce simulated waiting time compared with a fixed-time plan?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AE1CC0-A81A-4F9D-B3E1-05E4172C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236569-C11C-48AD-AEEE-A09DF9EE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70510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The experiment must account for sensing error, throughput and unfinished trips.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386F56-482A-4349-92B2-EC62077D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38575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A590E-F30B-4C65-8CE8-4B7B1A08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762375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An efficiency improvement remains a hypothesis until paired experiments establish 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6DA410-7EC5-48E8-96EF-C4942E43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341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275" b="0">
                <a:solidFill>
                  <a:srgbClr val="5B69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9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97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75533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F230A2-8640-4954-A9C4-8599D02F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330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Project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44F235-D76D-4B0D-B915-8645DF06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6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1E891-9C8A-438A-8F7E-4B3C7D73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647825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One synthetic four-arm junction with through movements only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3EC27D-986F-4D31-8919-9649BC49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C68707-0EC0-4FFB-B773-D81D13C6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70510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Two compatible groups within phases: North–South and East–West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571BD1-4D2C-4220-8203-AC5B69FD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38575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F303F0-94CD-449C-BC2E-2128A7DD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762375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Video monitoring and simulation evaluation form separate validation layers.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A2BE1B-FC8A-4F93-806F-020771CC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F256F8-CCC6-4B73-8D9B-0DDA79C9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81965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Turning movements, pedestrians and public-road actuation remain outside this initial scope.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C5EB2C-7C7F-4199-9241-A5E50787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341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275" b="0">
                <a:solidFill>
                  <a:srgbClr val="5B69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9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97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543840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D550B9-CEF9-453E-B90C-5CD52D9B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330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Evidence of relevance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1BBF69-942F-4ECF-934B-C0066151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6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9979B5-BEF9-4A65-A42E-2CE7A848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647825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Intended users: traffic engineers and research operators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CAC47-F1CD-48EE-B095-B33792BE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2D999E-7825-43F7-A7A4-E2DDFB5E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70510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Plan 3 to 5 actual stakeholder discussions or a substantive agreement with a client.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AFF962-2F5B-4EF0-8A6B-512BA20A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38575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0EF795-21B2-4D81-86E2-96E15511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762375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Record current practice, measurement needs and unacceptable failure conditions.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EE1F26-E840-4001-B5A4-E2A7378B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D6C774-1750-4979-81CB-EB88F6B3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81965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Local camera availability and local congestion patterns still require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C6BE4B-FA8E-486C-BCA2-62F2AF3A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341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275" b="0">
                <a:solidFill>
                  <a:srgbClr val="5B69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9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97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287139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766B2A-398B-4864-8CAC-4A91C286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330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Literature and research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1FA4F5-0577-4B87-AADA-73847781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6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66A186-964F-4011-9BCD-5728DE59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647825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12 scientific works cover detection, tracking and traffic control.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BED2A9-2C2A-422A-848E-1D46FF4C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B3557-7BAD-47E3-942E-323D4A0E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70510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Detector accuracy and identity continuity need evaluation on the selected intersection.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7FBCD4-FCB4-4DC9-8E7D-4A231916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38575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024BFE-2584-41A1-951B-CA66AE09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762375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PressLight, CoLight and SocialLight motivate control comparisons and explain the cost of network coordination.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DAF7AE-7383-4A3B-8F97-7718D643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F32F4C-5621-419F-A6B9-77C6D9B4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81965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The project examines how sensing errors affect a constrained local controller.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EAE943-404A-466B-8726-8CC8E770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341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275" b="0">
                <a:solidFill>
                  <a:srgbClr val="5B69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9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97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716913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D789E3-8E64-41A2-9A61-3320330C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330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Existing system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AA995A-4C48-4E25-92BD-047E1D49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6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780C26-7B78-4A0C-B39D-A31F2726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647825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SUMO: proposed simulation platform with documented TraCI signal control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9A3553-7797-4F73-B369-93700AEB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DCE37A-C709-4C56-8B2F-9D0677B5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70510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CityFlow: open traffic research alternative with a city-scale focus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7CD957-7F06-4B34-89BF-A658ACD8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38575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E25F9-B662-475E-8834-8ED8212C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762375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PTV Vissim and Aimsun Next: engineering platforms with access and edition dependencies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8EC9AA-FE29-4A1E-981F-3E2A544F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4E970B-2C79-4AAD-B7A2-B9570F50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81965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Four platforms share eight comparison criteria in the report. No unsupported accuracy ranking.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4607E3-E4B1-4BEB-9DF5-3994C683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341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275" b="0">
                <a:solidFill>
                  <a:srgbClr val="5B69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9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97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263790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CAF166-C958-4FB8-8B3F-3D25175D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330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Technology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48A09F-F7FC-4EA7-A8D0-7D97B186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6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B89C61-5A68-4A8F-B892-AE05BF25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647825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Detection: benchmark a YOLO-family candidate against RT-DETR.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685093-74F2-4260-9E0B-8CB6E64B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80F3F-10ED-40BD-B1F7-6E61846F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70510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Tracking: begin with ByteTrack and test association failures.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7BFA3C-1A5A-4898-AA76-0A326CDC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38575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120B37-4C05-474A-9F88-0BC92D10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762375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Execution: standard-library Python CLI now, FastAPI and separate inference worker later.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60BB56-2B78-4CC4-9463-66EB3AEC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FE9EB8-3BBC-4678-AB10-B9828A11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81965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Storage: JSON fixtures now, SQLite for the integrated local MVP.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4843C5-ECA0-41D7-8039-4B44491E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341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275" b="0">
                <a:solidFill>
                  <a:srgbClr val="5B69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9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97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8241865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EA996C-8A55-48BC-98E2-E9239DFE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330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Requirements and acceptance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54060-F5FF-4AE3-92E6-FC048FBC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6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CCBC66-26AC-4052-9FB6-52DF6853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647825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16 requirements connect to components and verification cases.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4F2DD1-43EE-4E3B-9A33-CEEE9141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45D29E-1DD8-43FB-850E-9380A99A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70510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Mandatory behaviour includes validated inputs, constrained decisions, fallback and reproducible run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5BE8FD-229D-48E5-AE3B-6E4A02CF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38575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F41A5F-657A-48A7-BAF1-B59747C8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762375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Proposed targets: queue MAE at most 2 vehicles and p95 observation latency at most 1 second.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58F278-6FC0-4F04-82B1-F308AFCE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5CD6C4-2316-4CE5-A434-71CE256C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81965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Targets depend on a declared camera workload, held-out data and target machine.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164866-E237-498A-8CE7-73BFFD06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341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275" b="0">
                <a:solidFill>
                  <a:srgbClr val="5B69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9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974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212445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169DBF-93E6-4240-8396-5C703B23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330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9A2673-46B0-43C1-9FAF-A8933500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6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384E95-FD69-4E7E-9510-D29E5C51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647825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Frames feed a detector and tracker, then an approach-level demand estimator.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D47B8D-AB70-475B-B285-41C86540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CF7257-A815-4644-B85D-FD953845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70510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The validity guard and controller produce bounded signal decisions.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D0615E-91A4-4395-B98A-1B20B690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38575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3E07C4-8358-4611-BB29-1900F5FA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762375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The SUMO adapter and run store preserve experiment conditions and decision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BD36BC-4E0A-4C49-A1D1-515EF2F8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39A931-FC3C-4EEA-B4CB-7FCEEEC4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81965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Context, use case and component diagrams have editable sources and readable exports.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9248B6-38F4-4F7F-9A51-C25E8BB5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341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275" b="0">
                <a:solidFill>
                  <a:srgbClr val="5B69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9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974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244574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24C94F-37C9-4DAB-96DB-46A79456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330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Prototype and current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6B9070-D847-4DCB-BF3D-4CC199E0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6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7C618A-1E69-4BB6-843D-2FCDE47B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647825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Three screen mockups cover configuration, monitoring and experiment comparison.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77282A-D1EB-451B-B2B7-43A95825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84B78D-5A16-4D4A-8E03-D03693C6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70510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A runnable Python controller accepts precomputed queue observations.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C66A04-8F51-413E-B065-7706298B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38575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64C460-68D0-411D-AEBC-2E00ABB0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762375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Fourteen unit checks passed for timing, clearance, invalid inputs and fallback.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1D3261-5221-4589-BA3A-061104E4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745825-CBA5-49EC-ACAD-BB07B59B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81965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The prototype demonstrates phase logic. CV accuracy and traffic effectiveness await measurement.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892214-4945-4516-BB6C-862D5BC6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341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275" b="0">
                <a:solidFill>
                  <a:srgbClr val="5B69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9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97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86940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AF07EB-1AA8-4053-80A8-A2684C17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330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Evaluation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AAE80-CA9F-4792-85D8-9A8527DC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6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9787A2-E484-4654-9D90-B98DA981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647825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Perception: session-level held-out clips, manual queues and unique crossing counts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BAEDDB-B626-4439-86E1-2979812C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D20AE-9960-40E6-AC21-CEA921D0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70510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Control: fixed-time baseline, ideal-state adaptation and calibrated sensing errors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C53547-3F33-422E-B87F-09F20783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38575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ADFDF-206E-40B8-8AE9-789FA888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762375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Five demand cases with 10 paired seeds per case and policy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76B727-9608-4E8B-8F66-E8C1334E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28E39F-277D-4BBF-9BF0-4578793E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81965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Waiting time, queues, throughput and unfinished vehicles remain visible in every comparison.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386054-28FA-47B6-86DF-F0787A86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341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275" b="0">
                <a:solidFill>
                  <a:srgbClr val="5B69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9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97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149346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725EA3-84E6-466A-A33A-F5E581F2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330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Team and milestones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328829-1C1E-47DE-A287-0C80C5B0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6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2A29AA-88D6-4E7F-B537-AE52F21C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647825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Student A, akentay: proposed perception and dataset responsibility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FAD5AF-360E-4FE4-B372-9E5E25FC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5A2AA8-5CC5-4718-99DA-68ABB347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70510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Student B, Tompi-dev: proposed controller and integration responsibility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360944-FBD2-4BEC-97AF-242C3F1A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38575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8BEA4B-35F3-40B6-85DA-F7EABB51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762375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Student C, Aiisana: proposed prototype, evaluation and coordination responsibility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54F6FE-7EAB-4DB9-BAF2-C0370618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5AAEE7-5B6B-478D-A0C3-0DC6F93A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81965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Fourteen task briefs include owner, priority, deadline, dependencies and acceptance.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4B1003-3FFD-4A4C-AEA1-8462002E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341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275" b="0">
                <a:solidFill>
                  <a:srgbClr val="5B69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9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97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265636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46642C-799B-49DE-849B-313DD7F4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330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Main risks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55DCA9-4B59-4772-B099-82735E23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6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02271-C90A-4FB2-A614-69D9B27E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647825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Data permission or low visibility may limit the camera study.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53CEE5-7B56-4CC2-94AB-7B4EC273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E09FC3-176E-4CFA-B04F-67A546DF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70510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Stale observations require explicit fallback through clearance stages.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8143C6-34BE-4336-AF14-14C0A8B7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38575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C6852A-E26F-4EA3-BC6A-2C1187A1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762375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Simulation conclusions depend on geometry, demand and cohort accounting.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4C07C0-D1AA-4652-A1DA-25D33886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174D09-5F3D-42B2-972F-8B5C90FB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81965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Named owners track hardware limits, review delays and scope expansion.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7DD194-9FFA-4DC7-8C12-4678FDFD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341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275" b="0">
                <a:solidFill>
                  <a:srgbClr val="5B69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9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97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170884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C9E1BD-A6E9-4DDE-A074-52651FB9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330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Supervisor review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10F9D6-0EC7-4583-96B0-DFF1AAAA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6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D1072F-97D9-413A-A186-89C0DB98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647825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Confirm the problem, geometry, scope and acceptance targets.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A8CC55-BFF6-4045-9918-CA956D4B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0DF480-5DC7-4996-9CD9-863A6E3A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70510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Create or identify the shared repository and YouTrack project.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A56784-8280-42A7-84C8-81DD28DE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38575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026D37-576A-4F27-8636-37F8D67F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762375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Complete stakeholder discussions and obtain substantive supervisor feedback.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99007-307D-42D8-A80E-55DA921A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23D96F-5934-4FC7-ACB8-3F529D1D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81965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Submit the reviewed version with access, an immutable stage tag and a list of open work.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3EDF67-B24F-44A6-BBDE-A4567CAB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341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275" b="0">
                <a:solidFill>
                  <a:srgbClr val="5B69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9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97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639595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2026-10-16T10:09:33.0120000Z</dcterms:created>
  <dcterms:modified xsi:type="dcterms:W3CDTF">2026-10-16T10:09:33.0120000Z</dcterms:modified>
</coreProperties>
</file>